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80" r:id="rId10"/>
    <p:sldId id="275" r:id="rId11"/>
    <p:sldId id="265" r:id="rId12"/>
    <p:sldId id="271" r:id="rId13"/>
    <p:sldId id="267" r:id="rId14"/>
    <p:sldId id="270" r:id="rId15"/>
    <p:sldId id="269" r:id="rId16"/>
    <p:sldId id="276" r:id="rId17"/>
    <p:sldId id="277" r:id="rId18"/>
    <p:sldId id="279" r:id="rId19"/>
  </p:sldIdLst>
  <p:sldSz cx="18288000" cy="10287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League Gothic" pitchFamily="2" charset="77"/>
      <p:regular r:id="rId25"/>
      <p:italic r:id="rId26"/>
    </p:embeddedFont>
    <p:embeddedFont>
      <p:font typeface="Montserrat" pitchFamily="2" charset="77"/>
      <p:regular r:id="rId27"/>
      <p:bold r:id="rId28"/>
    </p:embeddedFont>
    <p:embeddedFont>
      <p:font typeface="Montserrat Light" pitchFamily="2" charset="77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4" autoAdjust="0"/>
    <p:restoredTop sz="94626" autoAdjust="0"/>
  </p:normalViewPr>
  <p:slideViewPr>
    <p:cSldViewPr>
      <p:cViewPr>
        <p:scale>
          <a:sx n="80" d="100"/>
          <a:sy n="80" d="100"/>
        </p:scale>
        <p:origin x="32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0592E-F13D-7A48-82F9-7940F69FBA68}" type="datetimeFigureOut">
              <a:rPr lang="en-US" smtClean="0"/>
              <a:t>5/7/19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053EC-783A-324D-8760-05CF6DD0E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0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56A96-DA91-174E-82A1-D678BA2CB8C7}" type="datetime1">
              <a:rPr lang="en-US" smtClean="0"/>
              <a:t>5/7/19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E6F37-98ED-A149-9349-273ED019004F}" type="datetime1">
              <a:rPr lang="en-US" smtClean="0"/>
              <a:t>5/7/19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C28A-2AA4-DC4B-A592-5FDB941007A1}" type="datetime1">
              <a:rPr lang="en-US" smtClean="0"/>
              <a:t>5/7/19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D7A6D-BA52-A444-850B-8006278141AD}" type="datetime1">
              <a:rPr lang="en-US" smtClean="0"/>
              <a:t>5/7/19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BD421-FAB7-8D4E-9EDB-D55B89CCE0EF}" type="datetime1">
              <a:rPr lang="en-US" smtClean="0"/>
              <a:t>5/7/19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0D531-A44D-B14A-BB72-E5D6E0690D06}" type="datetime1">
              <a:rPr lang="en-US" smtClean="0"/>
              <a:t>5/7/19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ACBB6-49DF-8A4F-94A6-41B848802458}" type="datetime1">
              <a:rPr lang="en-US" smtClean="0"/>
              <a:t>5/7/19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468600" y="9334500"/>
            <a:ext cx="2133600" cy="365125"/>
          </a:xfr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76E4F-E44C-FA42-B59F-0319171225A5}" type="datetime1">
              <a:rPr lang="en-US" smtClean="0"/>
              <a:t>5/7/19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48DEF-4CF4-9344-90F1-930FE24151AF}" type="datetime1">
              <a:rPr lang="en-US" smtClean="0"/>
              <a:t>5/7/19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2D09E-9784-6044-B2F0-0167E5D66A12}" type="datetime1">
              <a:rPr lang="en-US" smtClean="0"/>
              <a:t>5/7/19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1A930-C7FC-614E-B9C7-6B1EE4F0297F}" type="datetime1">
              <a:rPr lang="en-US" smtClean="0"/>
              <a:t>5/7/19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CE09F-80A9-A246-B01A-5D35DCBB28D2}" type="datetime1">
              <a:rPr lang="en-US" smtClean="0"/>
              <a:t>5/7/19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4" name="AutoShape 4"/>
          <p:cNvSpPr/>
          <p:nvPr/>
        </p:nvSpPr>
        <p:spPr>
          <a:xfrm>
            <a:off x="419100" y="7953603"/>
            <a:ext cx="17449800" cy="1919568"/>
          </a:xfrm>
          <a:prstGeom prst="rect">
            <a:avLst/>
          </a:prstGeom>
          <a:solidFill>
            <a:srgbClr val="1C2120"/>
          </a:solidFill>
        </p:spPr>
      </p:sp>
      <p:sp>
        <p:nvSpPr>
          <p:cNvPr id="5" name="TextBox 5"/>
          <p:cNvSpPr txBox="1"/>
          <p:nvPr/>
        </p:nvSpPr>
        <p:spPr>
          <a:xfrm>
            <a:off x="2609870" y="8393576"/>
            <a:ext cx="13068261" cy="92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sz="2800" b="0" i="0" spc="148">
                <a:solidFill>
                  <a:srgbClr val="F2EFEB"/>
                </a:solidFill>
                <a:latin typeface="Montserrat Light"/>
              </a:rPr>
              <a:t>EKAB-OSOWO TAWO</a:t>
            </a:r>
          </a:p>
          <a:p>
            <a:pPr algn="ctr">
              <a:lnSpc>
                <a:spcPts val="3724"/>
              </a:lnSpc>
            </a:pPr>
            <a:r>
              <a:rPr lang="en-US" sz="2800" b="0" i="0" spc="148">
                <a:solidFill>
                  <a:srgbClr val="F2EFEB"/>
                </a:solidFill>
                <a:latin typeface="Montserrat Light"/>
              </a:rPr>
              <a:t>MIS [THESIS]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1113121"/>
            <a:ext cx="16230600" cy="6692689"/>
            <a:chOff x="0" y="9525"/>
            <a:chExt cx="21640800" cy="8923585"/>
          </a:xfrm>
        </p:grpSpPr>
        <p:sp>
          <p:nvSpPr>
            <p:cNvPr id="7" name="TextBox 7"/>
            <p:cNvSpPr txBox="1"/>
            <p:nvPr/>
          </p:nvSpPr>
          <p:spPr>
            <a:xfrm>
              <a:off x="2108227" y="9525"/>
              <a:ext cx="17424347" cy="649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6"/>
                </a:lnSpc>
              </a:pPr>
              <a:r>
                <a:rPr lang="en-US" sz="3200" b="0" i="0" spc="256" dirty="0">
                  <a:solidFill>
                    <a:srgbClr val="1C2120"/>
                  </a:solidFill>
                  <a:latin typeface="Montserrat Light"/>
                </a:rPr>
                <a:t>FINAL CAPSTONE PRESENTATION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6561" y="1710618"/>
              <a:ext cx="20007677" cy="7222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8800" dirty="0">
                  <a:solidFill>
                    <a:srgbClr val="1C2120"/>
                  </a:solidFill>
                  <a:latin typeface="League Gothic"/>
                </a:rPr>
                <a:t>ASSESSING THE IMPACT OF (NIGERIAN, GHANAIAN, ZIMBABWEAN, RWANDAN AND KENYAN) ACCENTS ON ENGLISH SPEAKING SPEECH RECOGNITION SYSTEMS.</a:t>
              </a:r>
            </a:p>
          </p:txBody>
        </p:sp>
        <p:sp>
          <p:nvSpPr>
            <p:cNvPr id="9" name="AutoShape 9"/>
            <p:cNvSpPr/>
            <p:nvPr/>
          </p:nvSpPr>
          <p:spPr>
            <a:xfrm>
              <a:off x="0" y="1123754"/>
              <a:ext cx="21640800" cy="121024"/>
            </a:xfrm>
            <a:prstGeom prst="rect">
              <a:avLst/>
            </a:prstGeom>
            <a:solidFill>
              <a:srgbClr val="1C2120"/>
            </a:solidFill>
          </p:spPr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3F97D27-5FD7-0D43-A1EB-AAC1CE10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64348" y="350196"/>
            <a:ext cx="7665303" cy="9586608"/>
            <a:chOff x="0" y="0"/>
            <a:chExt cx="5382430" cy="67315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82430" cy="6731534"/>
            </a:xfrm>
            <a:custGeom>
              <a:avLst/>
              <a:gdLst/>
              <a:ahLst/>
              <a:cxnLst/>
              <a:rect l="l" t="t" r="r" b="b"/>
              <a:pathLst>
                <a:path w="5382430" h="6731534">
                  <a:moveTo>
                    <a:pt x="0" y="0"/>
                  </a:moveTo>
                  <a:lnTo>
                    <a:pt x="0" y="6731534"/>
                  </a:lnTo>
                  <a:lnTo>
                    <a:pt x="5382430" y="6731534"/>
                  </a:lnTo>
                  <a:lnTo>
                    <a:pt x="5382430" y="0"/>
                  </a:lnTo>
                  <a:lnTo>
                    <a:pt x="0" y="0"/>
                  </a:lnTo>
                  <a:close/>
                  <a:moveTo>
                    <a:pt x="5321470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5321470" y="59690"/>
                  </a:lnTo>
                  <a:lnTo>
                    <a:pt x="5321470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580558" y="874279"/>
            <a:ext cx="6997468" cy="10918144"/>
            <a:chOff x="0" y="-19050"/>
            <a:chExt cx="9329958" cy="14557528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9329958" cy="883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653"/>
                </a:lnSpc>
              </a:pPr>
              <a:r>
                <a:rPr lang="en-US" sz="4596" b="1" i="0" spc="229" dirty="0">
                  <a:solidFill>
                    <a:srgbClr val="1C2120"/>
                  </a:solidFill>
                  <a:latin typeface="Montserrat"/>
                </a:rPr>
                <a:t>CONTENT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8440"/>
              <a:ext cx="9329958" cy="116800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r>
                <a:rPr lang="en-US" sz="3785" b="0" i="0" spc="151" dirty="0">
                  <a:solidFill>
                    <a:srgbClr val="1C2120"/>
                  </a:solidFill>
                  <a:latin typeface="Montserrat Light"/>
                </a:rPr>
                <a:t>Background/Motivation</a:t>
              </a: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r>
                <a:rPr lang="en-US" sz="3785" b="0" i="0" spc="151" dirty="0">
                  <a:solidFill>
                    <a:srgbClr val="1C2120"/>
                  </a:solidFill>
                  <a:latin typeface="Montserrat Light"/>
                </a:rPr>
                <a:t>Research Question/Objective</a:t>
              </a: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r>
                <a:rPr lang="en-US" sz="3785" b="0" i="0" spc="151" dirty="0">
                  <a:solidFill>
                    <a:srgbClr val="1C2120"/>
                  </a:solidFill>
                  <a:latin typeface="Montserrat Light"/>
                </a:rPr>
                <a:t>Literature Review</a:t>
              </a: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r>
                <a:rPr lang="en-US" sz="3785" b="0" i="0" spc="151" dirty="0">
                  <a:solidFill>
                    <a:srgbClr val="1C2120"/>
                  </a:solidFill>
                  <a:latin typeface="Montserrat Light"/>
                </a:rPr>
                <a:t>Methodology</a:t>
              </a: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r>
                <a:rPr lang="en-US" sz="3785" b="0" i="0" spc="151" dirty="0">
                  <a:solidFill>
                    <a:srgbClr val="1C2120"/>
                  </a:solidFill>
                  <a:latin typeface="Montserrat Light"/>
                </a:rPr>
                <a:t>Results</a:t>
              </a: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r>
                <a:rPr lang="en-US" sz="3785" spc="151" dirty="0">
                  <a:solidFill>
                    <a:srgbClr val="1C2120"/>
                  </a:solidFill>
                  <a:latin typeface="Montserrat Light"/>
                </a:rPr>
                <a:t>Key Findings</a:t>
              </a: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r>
                <a:rPr lang="en-US" sz="3785" spc="151" dirty="0">
                  <a:solidFill>
                    <a:srgbClr val="1C2120"/>
                  </a:solidFill>
                  <a:latin typeface="Montserrat Light"/>
                </a:rPr>
                <a:t>Future Work</a:t>
              </a:r>
              <a:endParaRPr lang="en-US" sz="3785" b="0" i="0" spc="151" dirty="0">
                <a:solidFill>
                  <a:srgbClr val="1C2120"/>
                </a:solidFill>
                <a:latin typeface="Montserrat Light"/>
              </a:endParaRP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endParaRPr lang="en-US" sz="3785" b="0" i="0" spc="151" dirty="0">
                <a:solidFill>
                  <a:srgbClr val="1C2120"/>
                </a:solidFill>
                <a:latin typeface="Montserrat Light"/>
              </a:endParaRP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endParaRPr lang="en-US" sz="3785" b="0" i="0" spc="151" dirty="0">
                <a:solidFill>
                  <a:srgbClr val="1C2120"/>
                </a:solidFill>
                <a:latin typeface="Montserrat Light"/>
              </a:endParaRP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endParaRPr lang="en-US" sz="3785" b="0" i="0" spc="151" dirty="0">
                <a:solidFill>
                  <a:srgbClr val="1C2120"/>
                </a:solidFill>
                <a:latin typeface="Montserrat Light"/>
              </a:endParaRP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endParaRPr lang="en-US" sz="3785" b="0" i="0" spc="151" dirty="0">
                <a:solidFill>
                  <a:srgbClr val="1C2120"/>
                </a:solidFill>
                <a:latin typeface="Montserrat Light"/>
              </a:endParaRPr>
            </a:p>
            <a:p>
              <a:pPr marL="624964" lvl="1" indent="-312482">
                <a:lnSpc>
                  <a:spcPts val="5299"/>
                </a:lnSpc>
                <a:buFont typeface="Arial"/>
                <a:buChar char="•"/>
              </a:pPr>
              <a:endParaRPr lang="en-US" sz="3785" b="0" i="0" spc="151" dirty="0">
                <a:solidFill>
                  <a:srgbClr val="1C2120"/>
                </a:solidFill>
                <a:latin typeface="Montserrat Light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3593306"/>
            <a:ext cx="7124701" cy="3207545"/>
            <a:chOff x="0" y="142875"/>
            <a:chExt cx="9499601" cy="427672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42875"/>
              <a:ext cx="9085673" cy="3732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920"/>
                </a:lnSpc>
              </a:pPr>
              <a:r>
                <a:rPr lang="en-US" sz="10400" spc="311" dirty="0">
                  <a:solidFill>
                    <a:srgbClr val="1C2120"/>
                  </a:solidFill>
                  <a:latin typeface="League Gothic"/>
                </a:rPr>
                <a:t>PRESENTATION OUTLINE</a:t>
              </a:r>
              <a:endParaRPr lang="en-US" sz="10400" b="0" i="0" spc="311" dirty="0">
                <a:solidFill>
                  <a:srgbClr val="1C2120"/>
                </a:solidFill>
                <a:latin typeface="League Gothic"/>
              </a:endParaR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4292600"/>
              <a:ext cx="9499601" cy="127001"/>
            </a:xfrm>
            <a:prstGeom prst="rect">
              <a:avLst/>
            </a:prstGeom>
            <a:solidFill>
              <a:srgbClr val="1C2120"/>
            </a:solidFill>
          </p:spPr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A6ECA63-4866-7042-8BEF-525AF801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F2EFE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33634" y="1363210"/>
            <a:ext cx="13634157" cy="2214891"/>
            <a:chOff x="0" y="0"/>
            <a:chExt cx="18178876" cy="2953188"/>
          </a:xfrm>
        </p:grpSpPr>
        <p:sp>
          <p:nvSpPr>
            <p:cNvPr id="5" name="TextBox 5"/>
            <p:cNvSpPr txBox="1"/>
            <p:nvPr/>
          </p:nvSpPr>
          <p:spPr>
            <a:xfrm>
              <a:off x="0" y="1571385"/>
              <a:ext cx="18178876" cy="1381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576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6961" y="-9525"/>
              <a:ext cx="14775277" cy="690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82"/>
                </a:lnSpc>
              </a:pPr>
              <a:r>
                <a:rPr lang="en-US" sz="3400" b="1" i="0" spc="170">
                  <a:solidFill>
                    <a:srgbClr val="F2EFEB"/>
                  </a:solidFill>
                  <a:latin typeface="Montserrat"/>
                </a:rPr>
                <a:t>BACKGROUND/MOTIVATION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8370789"/>
            <a:ext cx="16188382" cy="992885"/>
            <a:chOff x="0" y="0"/>
            <a:chExt cx="21584510" cy="1323846"/>
          </a:xfrm>
        </p:grpSpPr>
        <p:sp>
          <p:nvSpPr>
            <p:cNvPr id="8" name="TextBox 8"/>
            <p:cNvSpPr txBox="1"/>
            <p:nvPr/>
          </p:nvSpPr>
          <p:spPr>
            <a:xfrm>
              <a:off x="9735733" y="652634"/>
              <a:ext cx="11848776" cy="671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149"/>
                </a:lnSpc>
              </a:pPr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0" y="0"/>
              <a:ext cx="21584510" cy="120709"/>
            </a:xfrm>
            <a:prstGeom prst="rect">
              <a:avLst/>
            </a:prstGeom>
            <a:solidFill>
              <a:srgbClr val="F2EFEB"/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t="18690" b="11448"/>
          <a:stretch>
            <a:fillRect/>
          </a:stretch>
        </p:blipFill>
        <p:spPr>
          <a:xfrm>
            <a:off x="2368116" y="2248815"/>
            <a:ext cx="12963553" cy="6022578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047DB95-56EF-8143-88B2-E41949BC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8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0" y="350196"/>
            <a:ext cx="8777814" cy="9586608"/>
            <a:chOff x="0" y="0"/>
            <a:chExt cx="6163614" cy="67315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163614" cy="6731534"/>
            </a:xfrm>
            <a:custGeom>
              <a:avLst/>
              <a:gdLst/>
              <a:ahLst/>
              <a:cxnLst/>
              <a:rect l="l" t="t" r="r" b="b"/>
              <a:pathLst>
                <a:path w="6163614" h="6731534">
                  <a:moveTo>
                    <a:pt x="0" y="0"/>
                  </a:moveTo>
                  <a:lnTo>
                    <a:pt x="0" y="6731534"/>
                  </a:lnTo>
                  <a:lnTo>
                    <a:pt x="6163614" y="6731534"/>
                  </a:lnTo>
                  <a:lnTo>
                    <a:pt x="6163614" y="0"/>
                  </a:lnTo>
                  <a:lnTo>
                    <a:pt x="0" y="0"/>
                  </a:lnTo>
                  <a:close/>
                  <a:moveTo>
                    <a:pt x="6102654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6102654" y="59690"/>
                  </a:lnTo>
                  <a:lnTo>
                    <a:pt x="6102654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3582828"/>
            <a:ext cx="7124701" cy="4233455"/>
            <a:chOff x="0" y="0"/>
            <a:chExt cx="9499601" cy="5644607"/>
          </a:xfrm>
        </p:grpSpPr>
        <p:sp>
          <p:nvSpPr>
            <p:cNvPr id="7" name="TextBox 7"/>
            <p:cNvSpPr txBox="1"/>
            <p:nvPr/>
          </p:nvSpPr>
          <p:spPr>
            <a:xfrm>
              <a:off x="308562" y="-9525"/>
              <a:ext cx="8882477" cy="6907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82"/>
                </a:lnSpc>
              </a:pPr>
              <a:r>
                <a:rPr lang="en-US" sz="3400" b="1" i="0" spc="170">
                  <a:solidFill>
                    <a:srgbClr val="1C2120"/>
                  </a:solidFill>
                  <a:latin typeface="Montserrat"/>
                </a:rPr>
                <a:t>RESEARCH QUESTION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8562" y="2380284"/>
              <a:ext cx="8882477" cy="3264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800" b="0" i="0" spc="112">
                  <a:solidFill>
                    <a:srgbClr val="1C2120"/>
                  </a:solidFill>
                  <a:latin typeface="Montserrat Light"/>
                </a:rPr>
                <a:t>How does Nigerian, Ghanaian, Zimbabwean, Rwandan and Kenyan Accents affect English speaking speech recognition systems?.</a:t>
              </a:r>
            </a:p>
          </p:txBody>
        </p:sp>
        <p:sp>
          <p:nvSpPr>
            <p:cNvPr id="9" name="AutoShape 9"/>
            <p:cNvSpPr/>
            <p:nvPr/>
          </p:nvSpPr>
          <p:spPr>
            <a:xfrm>
              <a:off x="0" y="1534795"/>
              <a:ext cx="9499601" cy="127001"/>
            </a:xfrm>
            <a:prstGeom prst="rect">
              <a:avLst/>
            </a:prstGeom>
            <a:solidFill>
              <a:srgbClr val="1C212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842215" y="3582828"/>
            <a:ext cx="7381384" cy="5412263"/>
            <a:chOff x="0" y="0"/>
            <a:chExt cx="9841845" cy="7216351"/>
          </a:xfrm>
        </p:grpSpPr>
        <p:sp>
          <p:nvSpPr>
            <p:cNvPr id="11" name="TextBox 11"/>
            <p:cNvSpPr txBox="1"/>
            <p:nvPr/>
          </p:nvSpPr>
          <p:spPr>
            <a:xfrm>
              <a:off x="319678" y="-19050"/>
              <a:ext cx="9202488" cy="7248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32"/>
                </a:lnSpc>
              </a:pPr>
              <a:r>
                <a:rPr lang="en-US" sz="3522" b="1" i="0" spc="176">
                  <a:solidFill>
                    <a:srgbClr val="1C2120"/>
                  </a:solidFill>
                  <a:latin typeface="Montserrat"/>
                </a:rPr>
                <a:t>OBJECTIVE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9678" y="2468098"/>
              <a:ext cx="9202488" cy="47482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1"/>
                </a:lnSpc>
              </a:pPr>
              <a:r>
                <a:rPr lang="en-US" sz="2900" b="0" i="0" spc="116">
                  <a:solidFill>
                    <a:srgbClr val="1C2120"/>
                  </a:solidFill>
                  <a:latin typeface="Montserrat Light"/>
                </a:rPr>
                <a:t>The objective of this research is to understand and assess to a considerable extent the impact of some African accents: Nigerian, Ghanaian, Zimbabwean, Rwandan and Kenyan, on English speaking Speech Recognition systems.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0" y="1590090"/>
              <a:ext cx="9841845" cy="131576"/>
            </a:xfrm>
            <a:prstGeom prst="rect">
              <a:avLst/>
            </a:prstGeom>
            <a:solidFill>
              <a:srgbClr val="1C2120"/>
            </a:solidFill>
          </p:spPr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224A9EC-1BBB-0D41-8709-31A2AEF33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1402556"/>
            <a:ext cx="16230600" cy="7355029"/>
            <a:chOff x="0" y="142875"/>
            <a:chExt cx="21640800" cy="9806706"/>
          </a:xfrm>
        </p:grpSpPr>
        <p:sp>
          <p:nvSpPr>
            <p:cNvPr id="5" name="TextBox 5"/>
            <p:cNvSpPr txBox="1"/>
            <p:nvPr/>
          </p:nvSpPr>
          <p:spPr>
            <a:xfrm>
              <a:off x="0" y="142875"/>
              <a:ext cx="20718873" cy="1962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920"/>
                </a:lnSpc>
              </a:pPr>
              <a:r>
                <a:rPr lang="en-US" sz="10400" b="0" i="0" spc="311">
                  <a:solidFill>
                    <a:srgbClr val="1C2120"/>
                  </a:solidFill>
                  <a:latin typeface="League Gothic"/>
                </a:rPr>
                <a:t>LITERATURE REVIEW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815670"/>
              <a:ext cx="17670877" cy="1393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60"/>
                </a:lnSpc>
              </a:pPr>
              <a:r>
                <a:rPr lang="en-US" sz="3200" b="0" i="0" spc="320" dirty="0">
                  <a:solidFill>
                    <a:srgbClr val="1C2120"/>
                  </a:solidFill>
                  <a:latin typeface="Montserrat Light"/>
                </a:rPr>
                <a:t>Automatic Speech recognition and speaker variability – Benzeghiba, De Mori et al..</a:t>
              </a:r>
              <a:r>
                <a:rPr lang="en-US" sz="3200" dirty="0"/>
                <a:t> </a:t>
              </a:r>
              <a:endParaRPr lang="en-US" sz="3200" b="0" i="0" spc="320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622255"/>
              <a:ext cx="17670877" cy="592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800" b="0" i="0" spc="112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8" name="AutoShape 8"/>
            <p:cNvSpPr/>
            <p:nvPr/>
          </p:nvSpPr>
          <p:spPr>
            <a:xfrm>
              <a:off x="0" y="2544039"/>
              <a:ext cx="21640800" cy="121024"/>
            </a:xfrm>
            <a:prstGeom prst="rect">
              <a:avLst/>
            </a:prstGeom>
            <a:solidFill>
              <a:srgbClr val="1C21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6211223"/>
              <a:ext cx="17670877" cy="1362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60"/>
                </a:lnSpc>
              </a:pPr>
              <a:r>
                <a:rPr lang="en-US" sz="3200" spc="320" dirty="0">
                  <a:solidFill>
                    <a:srgbClr val="1C2120"/>
                  </a:solidFill>
                  <a:latin typeface="Montserrat Light"/>
                </a:rPr>
                <a:t>Word Error Rate Estimation for Speech Recognition – Ali and Renals.  </a:t>
              </a:r>
              <a:endParaRPr lang="en-US" sz="3200" b="0" i="0" spc="320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7017810"/>
              <a:ext cx="17670877" cy="592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800" b="0" i="0" spc="112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550012"/>
              <a:ext cx="17670877" cy="644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60"/>
                </a:lnSpc>
              </a:pPr>
              <a:r>
                <a:rPr lang="en-US" sz="3200" b="0" i="0" spc="320" dirty="0">
                  <a:solidFill>
                    <a:srgbClr val="1C2120"/>
                  </a:solidFill>
                  <a:latin typeface="Montserrat Light"/>
                </a:rPr>
                <a:t>Accents of English – J.C Wells.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356598"/>
              <a:ext cx="17670877" cy="592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800" b="0" i="0" spc="112" dirty="0">
                <a:solidFill>
                  <a:srgbClr val="1C2120"/>
                </a:solidFill>
                <a:latin typeface="Montserrat Light"/>
              </a:endParaRPr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F7E1322-56D0-E147-9D48-01C1880D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58349" y="4617396"/>
            <a:ext cx="17571303" cy="5319408"/>
            <a:chOff x="0" y="0"/>
            <a:chExt cx="12338234" cy="37351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338234" cy="3735187"/>
            </a:xfrm>
            <a:custGeom>
              <a:avLst/>
              <a:gdLst/>
              <a:ahLst/>
              <a:cxnLst/>
              <a:rect l="l" t="t" r="r" b="b"/>
              <a:pathLst>
                <a:path w="12338234" h="3735187">
                  <a:moveTo>
                    <a:pt x="0" y="0"/>
                  </a:moveTo>
                  <a:lnTo>
                    <a:pt x="0" y="3735187"/>
                  </a:lnTo>
                  <a:lnTo>
                    <a:pt x="12338234" y="3735187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3674227"/>
                  </a:moveTo>
                  <a:lnTo>
                    <a:pt x="59690" y="3674227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3674227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060223" y="1829292"/>
            <a:ext cx="14167555" cy="143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10400" b="0" i="0" spc="311">
                <a:solidFill>
                  <a:srgbClr val="1C2120"/>
                </a:solidFill>
                <a:latin typeface="League Gothic"/>
              </a:rPr>
              <a:t>METHODOLOGY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25290" y="4344346"/>
            <a:ext cx="528589" cy="528589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358349" y="5589886"/>
            <a:ext cx="4862471" cy="1003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6"/>
              </a:lnSpc>
            </a:pPr>
            <a:r>
              <a:rPr lang="en-US" sz="3097" b="0" i="0" spc="309">
                <a:solidFill>
                  <a:srgbClr val="1C2120"/>
                </a:solidFill>
                <a:latin typeface="Montserrat Light"/>
              </a:rPr>
              <a:t>STRATIFIED SELECTION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870950" y="4344346"/>
            <a:ext cx="546100" cy="54610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6632221" y="5632095"/>
            <a:ext cx="5023558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b="0" i="0" spc="320">
                <a:solidFill>
                  <a:srgbClr val="1C2120"/>
                </a:solidFill>
                <a:latin typeface="Montserrat Light"/>
              </a:rPr>
              <a:t>EXPERIMENTATION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738350" y="4344346"/>
            <a:ext cx="546100" cy="546100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499621" y="5632095"/>
            <a:ext cx="5023558" cy="511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b="0" i="0" spc="320">
                <a:solidFill>
                  <a:srgbClr val="1C2120"/>
                </a:solidFill>
                <a:latin typeface="Montserrat Light"/>
              </a:rPr>
              <a:t>COMPUTATION(WER)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06343" y="8884172"/>
            <a:ext cx="17475312" cy="1042606"/>
          </a:xfrm>
          <a:prstGeom prst="rect">
            <a:avLst/>
          </a:prstGeom>
          <a:solidFill>
            <a:srgbClr val="1C2120"/>
          </a:solidFill>
        </p:spPr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D09A514-DE52-684C-921F-EDA44F07E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911391" y="350196"/>
            <a:ext cx="11018260" cy="9586608"/>
            <a:chOff x="0" y="0"/>
            <a:chExt cx="7736812" cy="67315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36812" cy="6731534"/>
            </a:xfrm>
            <a:custGeom>
              <a:avLst/>
              <a:gdLst/>
              <a:ahLst/>
              <a:cxnLst/>
              <a:rect l="l" t="t" r="r" b="b"/>
              <a:pathLst>
                <a:path w="7736812" h="6731534">
                  <a:moveTo>
                    <a:pt x="0" y="0"/>
                  </a:moveTo>
                  <a:lnTo>
                    <a:pt x="0" y="6731534"/>
                  </a:lnTo>
                  <a:lnTo>
                    <a:pt x="7736812" y="6731534"/>
                  </a:lnTo>
                  <a:lnTo>
                    <a:pt x="7736812" y="0"/>
                  </a:lnTo>
                  <a:lnTo>
                    <a:pt x="0" y="0"/>
                  </a:lnTo>
                  <a:close/>
                  <a:moveTo>
                    <a:pt x="7675852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7675852" y="59690"/>
                  </a:lnTo>
                  <a:lnTo>
                    <a:pt x="7675852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392910" y="1798840"/>
            <a:ext cx="6890458" cy="1162184"/>
            <a:chOff x="0" y="0"/>
            <a:chExt cx="9187277" cy="1549579"/>
          </a:xfrm>
        </p:grpSpPr>
        <p:sp>
          <p:nvSpPr>
            <p:cNvPr id="7" name="TextBox 7"/>
            <p:cNvSpPr txBox="1"/>
            <p:nvPr/>
          </p:nvSpPr>
          <p:spPr>
            <a:xfrm>
              <a:off x="0" y="980407"/>
              <a:ext cx="9187277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40"/>
                </a:lnSpc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187277" cy="672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60"/>
                </a:lnSpc>
              </a:pPr>
              <a:r>
                <a:rPr lang="en-US" sz="3200" b="0" i="0" spc="320">
                  <a:solidFill>
                    <a:srgbClr val="1C2120"/>
                  </a:solidFill>
                  <a:latin typeface="Montserrat Light"/>
                </a:rPr>
                <a:t>SELECTION OF COUNTRIES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94989" y="1715119"/>
            <a:ext cx="4635277" cy="2624249"/>
            <a:chOff x="0" y="-85725"/>
            <a:chExt cx="6180369" cy="349899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85725"/>
              <a:ext cx="5995710" cy="27524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8576"/>
                </a:lnSpc>
              </a:pPr>
              <a:r>
                <a:rPr lang="en-US" sz="5400" b="1" i="0" spc="128" dirty="0">
                  <a:solidFill>
                    <a:srgbClr val="1C2120"/>
                  </a:solidFill>
                  <a:latin typeface="Montserrat"/>
                </a:rPr>
                <a:t>STRATIFIED SELECTION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3286271"/>
              <a:ext cx="6180369" cy="127001"/>
            </a:xfrm>
            <a:prstGeom prst="rect">
              <a:avLst/>
            </a:prstGeom>
            <a:solidFill>
              <a:srgbClr val="1C2120"/>
            </a:solidFill>
          </p:spPr>
        </p:sp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 l="1384" r="1384"/>
          <a:stretch>
            <a:fillRect/>
          </a:stretch>
        </p:blipFill>
        <p:spPr>
          <a:xfrm>
            <a:off x="7459026" y="1257317"/>
            <a:ext cx="2564547" cy="2245229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10442235" y="4300471"/>
            <a:ext cx="6890458" cy="1686059"/>
            <a:chOff x="0" y="0"/>
            <a:chExt cx="9187277" cy="224807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678907"/>
              <a:ext cx="9187277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40"/>
                </a:lnSpc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9187277" cy="137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60"/>
                </a:lnSpc>
              </a:pPr>
              <a:r>
                <a:rPr lang="en-US" sz="3200" b="0" i="0" spc="320">
                  <a:solidFill>
                    <a:srgbClr val="1C2120"/>
                  </a:solidFill>
                  <a:latin typeface="Montserrat Light"/>
                </a:rPr>
                <a:t>SELECTION OF PARTICIPANTS</a:t>
              </a:r>
            </a:p>
          </p:txBody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rcRect l="3740" r="3740"/>
          <a:stretch>
            <a:fillRect/>
          </a:stretch>
        </p:blipFill>
        <p:spPr>
          <a:xfrm>
            <a:off x="7508350" y="4020886"/>
            <a:ext cx="2564547" cy="2245229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10392910" y="6973154"/>
            <a:ext cx="6890458" cy="1686059"/>
            <a:chOff x="0" y="0"/>
            <a:chExt cx="9187277" cy="2248079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678907"/>
              <a:ext cx="9187277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40"/>
                </a:lnSpc>
              </a:pPr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9187277" cy="137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60"/>
                </a:lnSpc>
              </a:pPr>
              <a:r>
                <a:rPr lang="en-US" sz="3200" b="0" i="0" spc="320">
                  <a:solidFill>
                    <a:srgbClr val="1C2120"/>
                  </a:solidFill>
                  <a:latin typeface="Montserrat Light"/>
                </a:rPr>
                <a:t>SELECTION OF SPEECH RECOGNISERS</a:t>
              </a:r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 l="10707" r="10707"/>
          <a:stretch>
            <a:fillRect/>
          </a:stretch>
        </p:blipFill>
        <p:spPr>
          <a:xfrm>
            <a:off x="7508350" y="6774028"/>
            <a:ext cx="2564547" cy="2245229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2BB5CA8-FAE3-A94E-9017-F699A751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01949" y="350196"/>
            <a:ext cx="11627703" cy="9586608"/>
            <a:chOff x="0" y="0"/>
            <a:chExt cx="8164752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64751" cy="6731534"/>
            </a:xfrm>
            <a:custGeom>
              <a:avLst/>
              <a:gdLst/>
              <a:ahLst/>
              <a:cxnLst/>
              <a:rect l="l" t="t" r="r" b="b"/>
              <a:pathLst>
                <a:path w="8164751" h="6731534">
                  <a:moveTo>
                    <a:pt x="0" y="0"/>
                  </a:moveTo>
                  <a:lnTo>
                    <a:pt x="0" y="6731534"/>
                  </a:lnTo>
                  <a:lnTo>
                    <a:pt x="8164751" y="6731534"/>
                  </a:lnTo>
                  <a:lnTo>
                    <a:pt x="8164751" y="0"/>
                  </a:lnTo>
                  <a:lnTo>
                    <a:pt x="0" y="0"/>
                  </a:lnTo>
                  <a:close/>
                  <a:moveTo>
                    <a:pt x="8103791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8103791" y="59690"/>
                  </a:lnTo>
                  <a:lnTo>
                    <a:pt x="8103791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124699" y="3590465"/>
            <a:ext cx="7463917" cy="3734302"/>
            <a:chOff x="0" y="0"/>
            <a:chExt cx="9951889" cy="4979069"/>
          </a:xfrm>
        </p:grpSpPr>
        <p:sp>
          <p:nvSpPr>
            <p:cNvPr id="5" name="TextBox 5"/>
            <p:cNvSpPr txBox="1"/>
            <p:nvPr/>
          </p:nvSpPr>
          <p:spPr>
            <a:xfrm>
              <a:off x="0" y="649380"/>
              <a:ext cx="9951889" cy="517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56"/>
                </a:lnSpc>
              </a:pPr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9951889" cy="56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55"/>
                </a:lnSpc>
              </a:pPr>
              <a:r>
                <a:rPr lang="en-US" sz="2657" b="0" i="0" spc="265">
                  <a:solidFill>
                    <a:srgbClr val="1C2120"/>
                  </a:solidFill>
                  <a:latin typeface="Montserrat Light"/>
                </a:rPr>
                <a:t>SENTENCE CREATION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548177"/>
              <a:ext cx="9951889" cy="517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56"/>
                </a:lnSpc>
              </a:pPr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870222"/>
              <a:ext cx="9951889" cy="56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55"/>
                </a:lnSpc>
              </a:pPr>
              <a:r>
                <a:rPr lang="en-US" sz="2657" b="0" i="0" spc="265">
                  <a:solidFill>
                    <a:srgbClr val="1C2120"/>
                  </a:solidFill>
                  <a:latin typeface="Montserrat Light"/>
                </a:rPr>
                <a:t>RECORDING OF PARTICIPANTS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461667"/>
              <a:ext cx="9951889" cy="517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56"/>
                </a:lnSpc>
              </a:pPr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783712"/>
              <a:ext cx="9951889" cy="56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55"/>
                </a:lnSpc>
              </a:pPr>
              <a:r>
                <a:rPr lang="en-US" sz="2657" b="0" i="0" spc="265">
                  <a:solidFill>
                    <a:srgbClr val="1C2120"/>
                  </a:solidFill>
                  <a:latin typeface="Montserrat Light"/>
                </a:rPr>
                <a:t>TRANSCRIPTION OF RECORDED DATA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24699" y="1028700"/>
            <a:ext cx="10134601" cy="1938301"/>
            <a:chOff x="0" y="0"/>
            <a:chExt cx="13512801" cy="258440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42875"/>
              <a:ext cx="13048073" cy="1962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920"/>
                </a:lnSpc>
              </a:pPr>
              <a:r>
                <a:rPr lang="en-US" sz="10400" b="0" i="0" spc="311" dirty="0">
                  <a:solidFill>
                    <a:srgbClr val="1C2120"/>
                  </a:solidFill>
                  <a:latin typeface="League Gothic"/>
                </a:rPr>
                <a:t>EXPERIMENTATION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0" y="2457400"/>
              <a:ext cx="13512801" cy="127001"/>
            </a:xfrm>
            <a:prstGeom prst="rect">
              <a:avLst/>
            </a:prstGeom>
            <a:solidFill>
              <a:srgbClr val="1C2120"/>
            </a:solidFill>
          </p:spPr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l="34301" r="34301"/>
          <a:stretch>
            <a:fillRect/>
          </a:stretch>
        </p:blipFill>
        <p:spPr>
          <a:xfrm>
            <a:off x="0" y="-241634"/>
            <a:ext cx="5889831" cy="10892347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9516143-5C5A-AB4F-AFC5-281B963F0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1402556"/>
            <a:ext cx="16230600" cy="7355029"/>
            <a:chOff x="0" y="142875"/>
            <a:chExt cx="21640800" cy="9806706"/>
          </a:xfrm>
        </p:grpSpPr>
        <p:sp>
          <p:nvSpPr>
            <p:cNvPr id="5" name="TextBox 5"/>
            <p:cNvSpPr txBox="1"/>
            <p:nvPr/>
          </p:nvSpPr>
          <p:spPr>
            <a:xfrm>
              <a:off x="0" y="142875"/>
              <a:ext cx="20718873" cy="1869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920"/>
                </a:lnSpc>
              </a:pPr>
              <a:r>
                <a:rPr lang="en-US" sz="10400" spc="311" dirty="0">
                  <a:solidFill>
                    <a:srgbClr val="1C2120"/>
                  </a:solidFill>
                  <a:latin typeface="League Gothic"/>
                </a:rPr>
                <a:t>SENTENCES USED</a:t>
              </a:r>
              <a:endParaRPr lang="en-US" sz="10400" b="0" i="0" spc="311" dirty="0">
                <a:solidFill>
                  <a:srgbClr val="1C2120"/>
                </a:solidFill>
                <a:latin typeface="League Gothic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622255"/>
              <a:ext cx="17670877" cy="592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800" b="0" i="0" spc="112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8" name="AutoShape 8"/>
            <p:cNvSpPr/>
            <p:nvPr/>
          </p:nvSpPr>
          <p:spPr>
            <a:xfrm>
              <a:off x="0" y="2048155"/>
              <a:ext cx="21640800" cy="121024"/>
            </a:xfrm>
            <a:prstGeom prst="rect">
              <a:avLst/>
            </a:prstGeom>
            <a:solidFill>
              <a:srgbClr val="1C212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7017810"/>
              <a:ext cx="17670877" cy="592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800" b="0" i="0" spc="112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356598"/>
              <a:ext cx="17670877" cy="592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800" b="0" i="0" spc="112" dirty="0">
                <a:solidFill>
                  <a:srgbClr val="1C2120"/>
                </a:solidFill>
                <a:latin typeface="Montserrat Light"/>
              </a:endParaRP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94CE72-683A-1D47-B348-4E2933EC40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672218"/>
              </p:ext>
            </p:extLst>
          </p:nvPr>
        </p:nvGraphicFramePr>
        <p:xfrm>
          <a:off x="2895600" y="3301586"/>
          <a:ext cx="10896600" cy="6399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96600">
                  <a:extLst>
                    <a:ext uri="{9D8B030D-6E8A-4147-A177-3AD203B41FA5}">
                      <a16:colId xmlns:a16="http://schemas.microsoft.com/office/drawing/2014/main" val="1404370211"/>
                    </a:ext>
                  </a:extLst>
                </a:gridCol>
              </a:tblGrid>
              <a:tr h="639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</a:t>
                      </a:r>
                      <a:r>
                        <a:rPr lang="en-US" sz="2400" b="0" i="0" u="sng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 route </a:t>
                      </a:r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is better if I want to go to the mall?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037459"/>
                  </a:ext>
                </a:extLst>
              </a:tr>
              <a:tr h="639935">
                <a:tc>
                  <a:txBody>
                    <a:bodyPr/>
                    <a:lstStyle/>
                    <a:p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In my country buses are red and cars are green.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625373"/>
                  </a:ext>
                </a:extLst>
              </a:tr>
              <a:tr h="639935">
                <a:tc>
                  <a:txBody>
                    <a:bodyPr/>
                    <a:lstStyle/>
                    <a:p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The greatest gift is a passion for reading.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609177"/>
                  </a:ext>
                </a:extLst>
              </a:tr>
              <a:tr h="639935">
                <a:tc>
                  <a:txBody>
                    <a:bodyPr/>
                    <a:lstStyle/>
                    <a:p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Look at that lady over there, she has a purple eye.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383136"/>
                  </a:ext>
                </a:extLst>
              </a:tr>
              <a:tr h="639935">
                <a:tc>
                  <a:txBody>
                    <a:bodyPr/>
                    <a:lstStyle/>
                    <a:p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like my bread with butter or jam and not </a:t>
                      </a:r>
                      <a:r>
                        <a:rPr lang="en-US" sz="2400" b="0" i="0" u="sng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mayonnaise</a:t>
                      </a:r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929291"/>
                  </a:ext>
                </a:extLst>
              </a:tr>
              <a:tr h="639935">
                <a:tc>
                  <a:txBody>
                    <a:bodyPr/>
                    <a:lstStyle/>
                    <a:p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play are we going to see in the </a:t>
                      </a:r>
                      <a:r>
                        <a:rPr lang="en-US" sz="2400" b="0" i="0" u="sng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theaters</a:t>
                      </a:r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686827"/>
                  </a:ext>
                </a:extLst>
              </a:tr>
              <a:tr h="639935">
                <a:tc>
                  <a:txBody>
                    <a:bodyPr/>
                    <a:lstStyle/>
                    <a:p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do you call it when rain falls while the sun shines?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41199"/>
                  </a:ext>
                </a:extLst>
              </a:tr>
              <a:tr h="639935">
                <a:tc>
                  <a:txBody>
                    <a:bodyPr/>
                    <a:lstStyle/>
                    <a:p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Donuts covered in </a:t>
                      </a:r>
                      <a:r>
                        <a:rPr lang="en-US" sz="2400" b="0" i="0" u="sng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Carame</a:t>
                      </a:r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l are just the best.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60069"/>
                  </a:ext>
                </a:extLst>
              </a:tr>
              <a:tr h="639935">
                <a:tc>
                  <a:txBody>
                    <a:bodyPr/>
                    <a:lstStyle/>
                    <a:p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need a white </a:t>
                      </a:r>
                      <a:r>
                        <a:rPr lang="en-US" sz="2400" b="0" i="0" u="sng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envelope</a:t>
                      </a:r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 its urgent.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106104"/>
                  </a:ext>
                </a:extLst>
              </a:tr>
              <a:tr h="639935">
                <a:tc>
                  <a:txBody>
                    <a:bodyPr/>
                    <a:lstStyle/>
                    <a:p>
                      <a:r>
                        <a:rPr lang="en-US" sz="24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is the largest telecommunication network in West Africa?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09367"/>
                  </a:ext>
                </a:extLst>
              </a:tr>
            </a:tbl>
          </a:graphicData>
        </a:graphic>
      </p:graphicFrame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0B19BE3-A4E8-FE4F-8197-CED9F35F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927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28700" y="3593306"/>
            <a:ext cx="7124701" cy="3207545"/>
            <a:chOff x="0" y="142875"/>
            <a:chExt cx="9499601" cy="427672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42875"/>
              <a:ext cx="9085673" cy="3732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920"/>
                </a:lnSpc>
              </a:pPr>
              <a:r>
                <a:rPr lang="en-US" sz="10400" b="0" i="0" spc="311" dirty="0">
                  <a:solidFill>
                    <a:srgbClr val="1C2120"/>
                  </a:solidFill>
                  <a:latin typeface="League Gothic"/>
                </a:rPr>
                <a:t>EXAMPLE OF TRNSCRIPTIONS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4292600"/>
              <a:ext cx="9499601" cy="127001"/>
            </a:xfrm>
            <a:prstGeom prst="rect">
              <a:avLst/>
            </a:prstGeom>
            <a:solidFill>
              <a:srgbClr val="1C2120"/>
            </a:solidFill>
          </p:spPr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A2AA4-C265-CD4E-9CFF-F65D515D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475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E1F596-2DA0-5742-8D58-33E5C8E37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609310"/>
              </p:ext>
            </p:extLst>
          </p:nvPr>
        </p:nvGraphicFramePr>
        <p:xfrm>
          <a:off x="457200" y="342900"/>
          <a:ext cx="8305800" cy="9734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val="4022679083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563433736"/>
                    </a:ext>
                  </a:extLst>
                </a:gridCol>
              </a:tblGrid>
              <a:tr h="87283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Ghana                                                                     Google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792921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route is better if I want to go to the mall?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What’s which is better if I want to go to the mall?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74696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In my country buses are red and cars are green.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In my country buses are red and causing a green.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576473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The greatest gift is a passion for reading.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The greatest gift is a passion for reading.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136096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Look at that lady over there, she has a purple eye.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Look at that lady over there she has a purple eye.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819594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like my bread with butter or jam and not mayonnaise.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like my bread with butter and jam and what’s my name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822966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play are we going to see in the theaters?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What’s play are we going to spend a few houses?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61636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do you call it when rain falls while the sun shines?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do you call it when the rain falls while the sun shines?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561229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Donuts covered in Caramel are just the best.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Donuts covered in Caramel, I just a bit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45297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need a white envelope its urgent.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need a white envelope the edges.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263322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is the largest telecommunication network in West Africa?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is the largest telecommunication network in West Africa?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35649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095BC3-96F8-D24A-8327-055A36F6D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95539"/>
              </p:ext>
            </p:extLst>
          </p:nvPr>
        </p:nvGraphicFramePr>
        <p:xfrm>
          <a:off x="9525000" y="342900"/>
          <a:ext cx="8305800" cy="98672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val="4022679083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563433736"/>
                    </a:ext>
                  </a:extLst>
                </a:gridCol>
              </a:tblGrid>
              <a:tr h="87283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Ghana                                                                          IBM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792921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route is better if I want to go to the mall?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What's new is is this a if I want to go to the mall.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74696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In my country buses are red and cars are green.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In my country buses are read in because it of green.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576473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The greatest gift is a passion for reading.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The greatest gift is a passion for reading.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136096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Look at that lady over there, she has a purple eye.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Look at the leading over the shows the papal I'd.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819594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like my bread with butter or jam and not mayonnaise.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Like my bread the bustle John and that's mine.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822966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play are we going to see in the theaters?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Was the only good thing that the essence.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616367"/>
                  </a:ext>
                </a:extLst>
              </a:tr>
              <a:tr h="691338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do you call it when rain falls while the sun shines?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do you call it when they're in full as well the sunshine?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561229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Donuts covered in Caramel are just the best.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Donuts covered in Carmel adjusted this.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45297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need a white envelope its urgent.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need a life on you agents.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263322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is the largest telecommunication network in West Africa?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is the largest telecommunication network in West Africa?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356499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E589A0-FE69-C54A-8DDC-6A5B2A30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154400" y="969393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E1F596-2DA0-5742-8D58-33E5C8E37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809465"/>
              </p:ext>
            </p:extLst>
          </p:nvPr>
        </p:nvGraphicFramePr>
        <p:xfrm>
          <a:off x="457200" y="342900"/>
          <a:ext cx="8305800" cy="9734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val="4022679083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563433736"/>
                    </a:ext>
                  </a:extLst>
                </a:gridCol>
              </a:tblGrid>
              <a:tr h="87283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Ghana                                                                     Google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792921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route is better if I want to go to the mall?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route is better if I want to go to the mall?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74696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In my country buses are red and cars are green.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In my country roses are red in casa green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576473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The greatest gift is a passion for reading.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The greatest gift is a passion for reading.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136096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Look at that lady over there, she has a purple eye.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Lucas valley urology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819594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like my bread with butter or jam and not mayonnaise.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like our bridge with bats our jam. I’m not my enemies.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822966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play are we going to see in the theaters?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What’s play are we going to see in the theaters?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61636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do you call it when rain falls while the sun shines?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When do you call it when it rains while the sun shines?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561229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Donuts covered in Caramel are just the best.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Do not cover in caramel. I just did this.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45297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need a white envelope its urgent.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need a White Sands Loop it surgeons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263322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is the largest telecommunication network in West Africa?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is the largest telecommunication as WIC in West Africa?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35649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095BC3-96F8-D24A-8327-055A36F6D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170768"/>
              </p:ext>
            </p:extLst>
          </p:nvPr>
        </p:nvGraphicFramePr>
        <p:xfrm>
          <a:off x="9525000" y="342900"/>
          <a:ext cx="8305800" cy="9734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val="4022679083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563433736"/>
                    </a:ext>
                  </a:extLst>
                </a:gridCol>
              </a:tblGrid>
              <a:tr h="872837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B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Ghana                                                                          IBM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792921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route is better if I want to go to the mall?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With roots is but if I want to go to the mall.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74696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In my country buses are red and cars are green.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In my country buses are rude and because of.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576473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The greatest gift is a passion for reading.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The greeters give this a question for you.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136096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Look at that lady over there, she has a purple eye.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Because of the need you on the she hasn't.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819594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like my bread with butter or jam and not mayonnaise.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like my bread with but so John notes monies.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822966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play are we going to see in the theaters?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What's plea only going to see in the defense's.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61636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do you call it when rain falls while the sun shines?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do you call it it's when it's means what the sunshine.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561229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Donuts covered in Caramel are just the best.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Do not score than in Carmel and just that this.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452977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need a white envelope its urgent.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I need a way to end the decisions.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263322"/>
                  </a:ext>
                </a:extLst>
              </a:tr>
              <a:tr h="872837"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is the largest telecommunication network in West Africa?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spc="26" dirty="0">
                          <a:solidFill>
                            <a:srgbClr val="1C2120"/>
                          </a:solidFill>
                          <a:latin typeface="Montserrat Light"/>
                          <a:ea typeface="+mn-ea"/>
                          <a:cs typeface="+mn-cs"/>
                        </a:rPr>
                        <a:t>What is the largest city communication as we can stuff.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356499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3E8C6-2739-BB40-8A19-69A7E717D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138358" y="970998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110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64348" y="350196"/>
            <a:ext cx="7665303" cy="9586608"/>
            <a:chOff x="0" y="0"/>
            <a:chExt cx="5382430" cy="67315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82430" cy="6731534"/>
            </a:xfrm>
            <a:custGeom>
              <a:avLst/>
              <a:gdLst/>
              <a:ahLst/>
              <a:cxnLst/>
              <a:rect l="l" t="t" r="r" b="b"/>
              <a:pathLst>
                <a:path w="5382430" h="6731534">
                  <a:moveTo>
                    <a:pt x="0" y="0"/>
                  </a:moveTo>
                  <a:lnTo>
                    <a:pt x="0" y="6731534"/>
                  </a:lnTo>
                  <a:lnTo>
                    <a:pt x="5382430" y="6731534"/>
                  </a:lnTo>
                  <a:lnTo>
                    <a:pt x="5382430" y="0"/>
                  </a:lnTo>
                  <a:lnTo>
                    <a:pt x="0" y="0"/>
                  </a:lnTo>
                  <a:close/>
                  <a:moveTo>
                    <a:pt x="5321470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5321470" y="59690"/>
                  </a:lnTo>
                  <a:lnTo>
                    <a:pt x="5321470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626142" y="2139550"/>
            <a:ext cx="5879993" cy="6826731"/>
            <a:chOff x="0" y="0"/>
            <a:chExt cx="7839991" cy="9102308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7839991" cy="1586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750"/>
                </a:lnSpc>
              </a:pPr>
              <a:r>
                <a:rPr lang="en-US" sz="3862" b="1" i="0" spc="193">
                  <a:solidFill>
                    <a:srgbClr val="1C2120"/>
                  </a:solidFill>
                  <a:latin typeface="Montserrat"/>
                </a:rPr>
                <a:t>WORD ERROR RATE (WER)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91307"/>
              <a:ext cx="7839991" cy="6711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53"/>
                </a:lnSpc>
              </a:pPr>
              <a:r>
                <a:rPr lang="en-US" sz="3180" b="0" i="0" spc="127">
                  <a:solidFill>
                    <a:srgbClr val="1C2120"/>
                  </a:solidFill>
                  <a:latin typeface="Montserrat Light"/>
                </a:rPr>
                <a:t>A METHOD USED IN CALCULATING THE PERFORMANCE OF ASR.</a:t>
              </a:r>
            </a:p>
            <a:p>
              <a:pPr>
                <a:lnSpc>
                  <a:spcPts val="4453"/>
                </a:lnSpc>
              </a:pPr>
              <a:r>
                <a:rPr lang="en-US" sz="3180" b="0" i="0" spc="127">
                  <a:solidFill>
                    <a:srgbClr val="1C2120"/>
                  </a:solidFill>
                  <a:latin typeface="Montserrat Light"/>
                </a:rPr>
                <a:t>FORMULA IS;</a:t>
              </a:r>
            </a:p>
            <a:p>
              <a:pPr>
                <a:lnSpc>
                  <a:spcPts val="4453"/>
                </a:lnSpc>
              </a:pPr>
              <a:r>
                <a:rPr lang="en-US" sz="3180" b="0" i="0" spc="127">
                  <a:solidFill>
                    <a:srgbClr val="1C2120"/>
                  </a:solidFill>
                  <a:latin typeface="Montserrat Light"/>
                </a:rPr>
                <a:t>WER = (I+D+S)/N</a:t>
              </a:r>
            </a:p>
            <a:p>
              <a:pPr>
                <a:lnSpc>
                  <a:spcPts val="4453"/>
                </a:lnSpc>
              </a:pPr>
              <a:r>
                <a:rPr lang="en-US" sz="3180" b="0" i="0" spc="127">
                  <a:solidFill>
                    <a:srgbClr val="1C2120"/>
                  </a:solidFill>
                  <a:latin typeface="Montserrat Light"/>
                </a:rPr>
                <a:t>Where  I = Insertions</a:t>
              </a:r>
            </a:p>
            <a:p>
              <a:pPr>
                <a:lnSpc>
                  <a:spcPts val="4453"/>
                </a:lnSpc>
              </a:pPr>
              <a:r>
                <a:rPr lang="en-US" sz="3180" b="0" i="0" spc="127">
                  <a:solidFill>
                    <a:srgbClr val="1C2120"/>
                  </a:solidFill>
                  <a:latin typeface="Montserrat Light"/>
                </a:rPr>
                <a:t> .          D = Deletion</a:t>
              </a:r>
            </a:p>
            <a:p>
              <a:pPr>
                <a:lnSpc>
                  <a:spcPts val="4453"/>
                </a:lnSpc>
              </a:pPr>
              <a:r>
                <a:rPr lang="en-US" sz="3180" b="0" i="0" spc="127">
                  <a:solidFill>
                    <a:srgbClr val="1C2120"/>
                  </a:solidFill>
                  <a:latin typeface="Montserrat Light"/>
                </a:rPr>
                <a:t>            S = Substitution</a:t>
              </a:r>
            </a:p>
            <a:p>
              <a:pPr>
                <a:lnSpc>
                  <a:spcPts val="4453"/>
                </a:lnSpc>
              </a:pPr>
              <a:r>
                <a:rPr lang="en-US" sz="3180" b="0" i="0" spc="127">
                  <a:solidFill>
                    <a:srgbClr val="1C2120"/>
                  </a:solidFill>
                  <a:latin typeface="Montserrat Light"/>
                </a:rPr>
                <a:t>            N = No. of words.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4182004"/>
            <a:ext cx="7124701" cy="1922992"/>
            <a:chOff x="0" y="0"/>
            <a:chExt cx="9499601" cy="256398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42875"/>
              <a:ext cx="9085673" cy="1962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920"/>
                </a:lnSpc>
              </a:pPr>
              <a:r>
                <a:rPr lang="en-US" sz="10400" b="0" i="0" spc="311">
                  <a:solidFill>
                    <a:srgbClr val="1C2120"/>
                  </a:solidFill>
                  <a:latin typeface="League Gothic"/>
                </a:rPr>
                <a:t>COMPUTATION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2436989"/>
              <a:ext cx="9499601" cy="127001"/>
            </a:xfrm>
            <a:prstGeom prst="rect">
              <a:avLst/>
            </a:prstGeom>
            <a:solidFill>
              <a:srgbClr val="1C2120"/>
            </a:solidFill>
          </p:spPr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7030D44-016B-C644-9393-83A35D52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0E913F6-5985-664A-8E0E-C3BCFADB1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09479"/>
              </p:ext>
            </p:extLst>
          </p:nvPr>
        </p:nvGraphicFramePr>
        <p:xfrm>
          <a:off x="1066800" y="1638300"/>
          <a:ext cx="16459200" cy="81805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1785836215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3800356724"/>
                    </a:ext>
                  </a:extLst>
                </a:gridCol>
              </a:tblGrid>
              <a:tr h="6959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0" spc="128" dirty="0">
                          <a:solidFill>
                            <a:srgbClr val="1C2120"/>
                          </a:solidFill>
                          <a:latin typeface="Montserrat"/>
                        </a:rPr>
                        <a:t>Google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Ghana Average: 29.03%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Nigeria Average: 27.66%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Zimbabwe Average: 24.07%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Rwanda Average: 36.92%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Kenya Average: 28.76%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*America Average: 13.82%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i="0" spc="26" dirty="0">
                        <a:solidFill>
                          <a:srgbClr val="1C2120"/>
                        </a:solidFill>
                        <a:latin typeface="Montserrat Ligh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Google Average: 29.29%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Google Male Average: 30.60%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Google Female Average: 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0" spc="128" dirty="0">
                          <a:solidFill>
                            <a:srgbClr val="1C2120"/>
                          </a:solidFill>
                          <a:latin typeface="Montserrat"/>
                        </a:rPr>
                        <a:t>IBM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Ghana Average: 64.25%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Nigeria Average: 64.96%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Zimbabwe Average: 69.78%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Rwanda Average: 76.03%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Kenya Average: 65.32%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*America Average: 22.22%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1" i="0" spc="26" dirty="0">
                        <a:solidFill>
                          <a:srgbClr val="1C2120"/>
                        </a:solidFill>
                        <a:latin typeface="Montserrat Ligh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IBM Average: 68.06%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IBM Male Average: 61.20%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IBM Female Average: 59.65%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1950772"/>
                  </a:ext>
                </a:extLst>
              </a:tr>
              <a:tr h="122091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Male Average: 45.90%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i="0" spc="26" dirty="0">
                          <a:solidFill>
                            <a:srgbClr val="1C2120"/>
                          </a:solidFill>
                          <a:latin typeface="Montserrat Light"/>
                        </a:rPr>
                        <a:t>Female Average: 41.36%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41334"/>
                  </a:ext>
                </a:extLst>
              </a:tr>
            </a:tbl>
          </a:graphicData>
        </a:graphic>
      </p:graphicFrame>
      <p:sp>
        <p:nvSpPr>
          <p:cNvPr id="24" name="TextBox 12">
            <a:extLst>
              <a:ext uri="{FF2B5EF4-FFF2-40B4-BE49-F238E27FC236}">
                <a16:creationId xmlns:a16="http://schemas.microsoft.com/office/drawing/2014/main" id="{D4EB5CD5-9DE3-354B-9913-94E6F47B1F2D}"/>
              </a:ext>
            </a:extLst>
          </p:cNvPr>
          <p:cNvSpPr txBox="1"/>
          <p:nvPr/>
        </p:nvSpPr>
        <p:spPr>
          <a:xfrm>
            <a:off x="5448300" y="236506"/>
            <a:ext cx="7391400" cy="1401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10400" b="0" i="0" spc="311" dirty="0">
                <a:solidFill>
                  <a:srgbClr val="1C2120"/>
                </a:solidFill>
                <a:latin typeface="League Gothic"/>
              </a:rPr>
              <a:t>RESULTS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CA9F60C-0D06-B543-BA41-39F1C221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0" y="963624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721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031771" y="1448039"/>
            <a:ext cx="12224457" cy="1057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6"/>
              </a:lnSpc>
            </a:pPr>
            <a:r>
              <a:rPr lang="en-US" sz="6400" b="1" i="0" spc="128">
                <a:solidFill>
                  <a:srgbClr val="1C2120"/>
                </a:solidFill>
                <a:latin typeface="Montserrat"/>
              </a:rPr>
              <a:t>KEY FINDINGS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3203429"/>
            <a:ext cx="16230600" cy="90768"/>
          </a:xfrm>
          <a:prstGeom prst="rect">
            <a:avLst/>
          </a:prstGeom>
          <a:solidFill>
            <a:srgbClr val="1C2120"/>
          </a:solidFill>
        </p:spPr>
      </p:sp>
      <p:sp>
        <p:nvSpPr>
          <p:cNvPr id="8" name="TextBox 8"/>
          <p:cNvSpPr txBox="1"/>
          <p:nvPr/>
        </p:nvSpPr>
        <p:spPr>
          <a:xfrm>
            <a:off x="2028812" y="3606727"/>
            <a:ext cx="6659322" cy="2099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</a:pPr>
            <a:r>
              <a:rPr lang="en-US" sz="3200" b="0" i="0" spc="320" dirty="0">
                <a:solidFill>
                  <a:srgbClr val="1C2120"/>
                </a:solidFill>
                <a:latin typeface="Montserrat Light"/>
              </a:rPr>
              <a:t>There exist major differences between Google and IBM transcriptions.</a:t>
            </a:r>
          </a:p>
        </p:txBody>
      </p:sp>
      <p:sp>
        <p:nvSpPr>
          <p:cNvPr id="9" name="AutoShape 9"/>
          <p:cNvSpPr/>
          <p:nvPr/>
        </p:nvSpPr>
        <p:spPr>
          <a:xfrm>
            <a:off x="1048753" y="3628158"/>
            <a:ext cx="378826" cy="431845"/>
          </a:xfrm>
          <a:prstGeom prst="rect">
            <a:avLst/>
          </a:prstGeom>
          <a:solidFill>
            <a:srgbClr val="1C2120"/>
          </a:solidFill>
        </p:spPr>
      </p:sp>
      <p:grpSp>
        <p:nvGrpSpPr>
          <p:cNvPr id="10" name="Group 10"/>
          <p:cNvGrpSpPr/>
          <p:nvPr/>
        </p:nvGrpSpPr>
        <p:grpSpPr>
          <a:xfrm>
            <a:off x="2028812" y="6140221"/>
            <a:ext cx="6659322" cy="2638030"/>
            <a:chOff x="0" y="-28575"/>
            <a:chExt cx="8879096" cy="441975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38963"/>
              <a:ext cx="8879096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40"/>
                </a:lnSpc>
              </a:pPr>
              <a:endParaRPr lang="en-US" sz="2600" b="0" i="0" spc="26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8879096" cy="4419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60"/>
                </a:lnSpc>
              </a:pPr>
              <a:r>
                <a:rPr lang="en-US" sz="3200" spc="320" dirty="0">
                  <a:solidFill>
                    <a:srgbClr val="1C2120"/>
                  </a:solidFill>
                  <a:latin typeface="Montserrat Light"/>
                </a:rPr>
                <a:t>There exist major differences between Google’s stated WER(4.9%) and the WER calculated in this study</a:t>
              </a:r>
              <a:endParaRPr lang="en-US" sz="3200" b="0" i="0" spc="320" dirty="0">
                <a:solidFill>
                  <a:srgbClr val="1C2120"/>
                </a:solidFill>
                <a:latin typeface="Montserrat Light"/>
              </a:endParaRPr>
            </a:p>
          </p:txBody>
        </p:sp>
      </p:grpSp>
      <p:sp>
        <p:nvSpPr>
          <p:cNvPr id="13" name="AutoShape 13"/>
          <p:cNvSpPr/>
          <p:nvPr/>
        </p:nvSpPr>
        <p:spPr>
          <a:xfrm>
            <a:off x="1048753" y="6161652"/>
            <a:ext cx="378826" cy="431845"/>
          </a:xfrm>
          <a:prstGeom prst="rect">
            <a:avLst/>
          </a:prstGeom>
          <a:solidFill>
            <a:srgbClr val="1C2120"/>
          </a:solidFill>
        </p:spPr>
      </p:sp>
      <p:grpSp>
        <p:nvGrpSpPr>
          <p:cNvPr id="14" name="Group 14"/>
          <p:cNvGrpSpPr/>
          <p:nvPr/>
        </p:nvGrpSpPr>
        <p:grpSpPr>
          <a:xfrm>
            <a:off x="10620031" y="3606727"/>
            <a:ext cx="6659322" cy="1152533"/>
            <a:chOff x="0" y="-28575"/>
            <a:chExt cx="8879096" cy="153671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938963"/>
              <a:ext cx="8879096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40"/>
                </a:lnSpc>
              </a:pPr>
              <a:endParaRPr lang="en-US" sz="2600" b="0" i="0" spc="26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879096" cy="1362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60"/>
                </a:lnSpc>
              </a:pPr>
              <a:r>
                <a:rPr lang="en-US" sz="3200" spc="320" dirty="0">
                  <a:solidFill>
                    <a:srgbClr val="1C2120"/>
                  </a:solidFill>
                  <a:latin typeface="Montserrat Light"/>
                </a:rPr>
                <a:t>Female Gender have better WER than the Male Gender</a:t>
              </a:r>
              <a:endParaRPr lang="en-US" sz="3200" b="0" i="0" spc="320" dirty="0">
                <a:solidFill>
                  <a:srgbClr val="1C2120"/>
                </a:solidFill>
                <a:latin typeface="Montserrat Light"/>
              </a:endParaRP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639972" y="3628158"/>
            <a:ext cx="378826" cy="431845"/>
          </a:xfrm>
          <a:prstGeom prst="rect">
            <a:avLst/>
          </a:prstGeom>
          <a:solidFill>
            <a:srgbClr val="1C2120"/>
          </a:solidFill>
        </p:spPr>
      </p:sp>
      <p:grpSp>
        <p:nvGrpSpPr>
          <p:cNvPr id="18" name="Group 18"/>
          <p:cNvGrpSpPr/>
          <p:nvPr/>
        </p:nvGrpSpPr>
        <p:grpSpPr>
          <a:xfrm>
            <a:off x="10620031" y="6140221"/>
            <a:ext cx="6659322" cy="2638030"/>
            <a:chOff x="0" y="-28575"/>
            <a:chExt cx="8879096" cy="3517372"/>
          </a:xfrm>
        </p:grpSpPr>
        <p:sp>
          <p:nvSpPr>
            <p:cNvPr id="19" name="TextBox 19"/>
            <p:cNvSpPr txBox="1"/>
            <p:nvPr/>
          </p:nvSpPr>
          <p:spPr>
            <a:xfrm>
              <a:off x="0" y="938963"/>
              <a:ext cx="8879096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40"/>
                </a:lnSpc>
              </a:pPr>
              <a:endParaRPr lang="en-US" sz="2600" b="0" i="0" spc="26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8879096" cy="35173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60"/>
                </a:lnSpc>
              </a:pPr>
              <a:r>
                <a:rPr lang="en-US" sz="3200" spc="320" dirty="0">
                  <a:solidFill>
                    <a:srgbClr val="1C2120"/>
                  </a:solidFill>
                  <a:latin typeface="Montserrat Light"/>
                </a:rPr>
                <a:t>There exist major differences between IBM’s stated WER (5.5%)and the WER calculated in this study.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9639972" y="6161652"/>
            <a:ext cx="378826" cy="431845"/>
          </a:xfrm>
          <a:prstGeom prst="rect">
            <a:avLst/>
          </a:prstGeom>
          <a:solidFill>
            <a:srgbClr val="1C2120"/>
          </a:solidFill>
        </p:spPr>
      </p:sp>
      <p:grpSp>
        <p:nvGrpSpPr>
          <p:cNvPr id="22" name="Group 22"/>
          <p:cNvGrpSpPr/>
          <p:nvPr/>
        </p:nvGrpSpPr>
        <p:grpSpPr>
          <a:xfrm>
            <a:off x="406344" y="8894198"/>
            <a:ext cx="17475312" cy="1042606"/>
            <a:chOff x="0" y="0"/>
            <a:chExt cx="23300416" cy="1390142"/>
          </a:xfrm>
        </p:grpSpPr>
        <p:sp>
          <p:nvSpPr>
            <p:cNvPr id="23" name="AutoShape 23"/>
            <p:cNvSpPr/>
            <p:nvPr/>
          </p:nvSpPr>
          <p:spPr>
            <a:xfrm>
              <a:off x="0" y="0"/>
              <a:ext cx="23300416" cy="1390142"/>
            </a:xfrm>
            <a:prstGeom prst="rect">
              <a:avLst/>
            </a:prstGeom>
            <a:solidFill>
              <a:srgbClr val="1C212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083862" y="408686"/>
              <a:ext cx="21322752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359"/>
                </a:lnSpc>
              </a:pPr>
              <a:endParaRPr lang="en-US" sz="2400" b="0" i="0" spc="192" dirty="0">
                <a:solidFill>
                  <a:srgbClr val="F2EFEB"/>
                </a:solidFill>
                <a:latin typeface="Montserrat Light"/>
              </a:endParaRPr>
            </a:p>
          </p:txBody>
        </p:sp>
      </p:grp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821B8182-E02A-464D-BA76-6A14CDD6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031771" y="1448039"/>
            <a:ext cx="12224457" cy="1057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6"/>
              </a:lnSpc>
            </a:pPr>
            <a:r>
              <a:rPr lang="en-US" sz="6400" b="1" i="0" spc="128">
                <a:solidFill>
                  <a:srgbClr val="1C2120"/>
                </a:solidFill>
                <a:latin typeface="Montserrat"/>
              </a:rPr>
              <a:t>KEY FINDINGS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3203429"/>
            <a:ext cx="16230600" cy="90768"/>
          </a:xfrm>
          <a:prstGeom prst="rect">
            <a:avLst/>
          </a:prstGeom>
          <a:solidFill>
            <a:srgbClr val="1C2120"/>
          </a:solidFill>
        </p:spPr>
      </p:sp>
      <p:sp>
        <p:nvSpPr>
          <p:cNvPr id="8" name="TextBox 8"/>
          <p:cNvSpPr txBox="1"/>
          <p:nvPr/>
        </p:nvSpPr>
        <p:spPr>
          <a:xfrm>
            <a:off x="2008759" y="4382128"/>
            <a:ext cx="6659322" cy="1560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</a:pPr>
            <a:r>
              <a:rPr lang="en-US" sz="3200" spc="320" dirty="0">
                <a:solidFill>
                  <a:srgbClr val="1C2120"/>
                </a:solidFill>
                <a:latin typeface="Montserrat Light"/>
              </a:rPr>
              <a:t>Cause of differences in WER’s is due to bias in training data used.</a:t>
            </a:r>
          </a:p>
        </p:txBody>
      </p:sp>
      <p:sp>
        <p:nvSpPr>
          <p:cNvPr id="9" name="AutoShape 9"/>
          <p:cNvSpPr/>
          <p:nvPr/>
        </p:nvSpPr>
        <p:spPr>
          <a:xfrm>
            <a:off x="1028700" y="4403559"/>
            <a:ext cx="378826" cy="431845"/>
          </a:xfrm>
          <a:prstGeom prst="rect">
            <a:avLst/>
          </a:prstGeom>
          <a:solidFill>
            <a:srgbClr val="1C2120"/>
          </a:solidFill>
        </p:spPr>
      </p:sp>
      <p:grpSp>
        <p:nvGrpSpPr>
          <p:cNvPr id="14" name="Group 14"/>
          <p:cNvGrpSpPr/>
          <p:nvPr/>
        </p:nvGrpSpPr>
        <p:grpSpPr>
          <a:xfrm>
            <a:off x="10599978" y="4382128"/>
            <a:ext cx="6659322" cy="1560812"/>
            <a:chOff x="0" y="-28575"/>
            <a:chExt cx="8879096" cy="2081082"/>
          </a:xfrm>
        </p:grpSpPr>
        <p:sp>
          <p:nvSpPr>
            <p:cNvPr id="15" name="TextBox 15"/>
            <p:cNvSpPr txBox="1"/>
            <p:nvPr/>
          </p:nvSpPr>
          <p:spPr>
            <a:xfrm>
              <a:off x="0" y="938963"/>
              <a:ext cx="8879096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40"/>
                </a:lnSpc>
              </a:pPr>
              <a:endParaRPr lang="en-US" sz="2600" b="0" i="0" spc="26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879096" cy="2081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160"/>
                </a:lnSpc>
              </a:pPr>
              <a:r>
                <a:rPr lang="en-US" sz="3200" spc="320" dirty="0">
                  <a:solidFill>
                    <a:srgbClr val="1C2120"/>
                  </a:solidFill>
                  <a:latin typeface="Montserrat Light"/>
                </a:rPr>
                <a:t>Accents causes differences in WER among African countries. 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619919" y="4403559"/>
            <a:ext cx="378826" cy="431845"/>
          </a:xfrm>
          <a:prstGeom prst="rect">
            <a:avLst/>
          </a:prstGeom>
          <a:solidFill>
            <a:srgbClr val="1C2120"/>
          </a:solidFill>
        </p:spPr>
      </p:sp>
      <p:grpSp>
        <p:nvGrpSpPr>
          <p:cNvPr id="22" name="Group 22"/>
          <p:cNvGrpSpPr/>
          <p:nvPr/>
        </p:nvGrpSpPr>
        <p:grpSpPr>
          <a:xfrm>
            <a:off x="406344" y="8894198"/>
            <a:ext cx="17475312" cy="1042606"/>
            <a:chOff x="0" y="0"/>
            <a:chExt cx="23300416" cy="1390142"/>
          </a:xfrm>
        </p:grpSpPr>
        <p:sp>
          <p:nvSpPr>
            <p:cNvPr id="23" name="AutoShape 23"/>
            <p:cNvSpPr/>
            <p:nvPr/>
          </p:nvSpPr>
          <p:spPr>
            <a:xfrm>
              <a:off x="0" y="0"/>
              <a:ext cx="23300416" cy="1390142"/>
            </a:xfrm>
            <a:prstGeom prst="rect">
              <a:avLst/>
            </a:prstGeom>
            <a:solidFill>
              <a:srgbClr val="1C212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083862" y="408686"/>
              <a:ext cx="21322752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359"/>
                </a:lnSpc>
              </a:pPr>
              <a:endParaRPr lang="en-US" sz="2400" b="0" i="0" spc="192" dirty="0">
                <a:solidFill>
                  <a:srgbClr val="F2EFEB"/>
                </a:solidFill>
                <a:latin typeface="Montserrat Light"/>
              </a:endParaRPr>
            </a:p>
          </p:txBody>
        </p:sp>
      </p:grp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EA594032-4C78-A445-9A86-7B8FC511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523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64348" y="350196"/>
            <a:ext cx="7665303" cy="9586608"/>
            <a:chOff x="0" y="0"/>
            <a:chExt cx="5382430" cy="67315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82430" cy="6731534"/>
            </a:xfrm>
            <a:custGeom>
              <a:avLst/>
              <a:gdLst/>
              <a:ahLst/>
              <a:cxnLst/>
              <a:rect l="l" t="t" r="r" b="b"/>
              <a:pathLst>
                <a:path w="5382430" h="6731534">
                  <a:moveTo>
                    <a:pt x="0" y="0"/>
                  </a:moveTo>
                  <a:lnTo>
                    <a:pt x="0" y="6731534"/>
                  </a:lnTo>
                  <a:lnTo>
                    <a:pt x="5382430" y="6731534"/>
                  </a:lnTo>
                  <a:lnTo>
                    <a:pt x="5382430" y="0"/>
                  </a:lnTo>
                  <a:lnTo>
                    <a:pt x="0" y="0"/>
                  </a:lnTo>
                  <a:close/>
                  <a:moveTo>
                    <a:pt x="5321470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5321470" y="59690"/>
                  </a:lnTo>
                  <a:lnTo>
                    <a:pt x="5321470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668000" y="3933030"/>
            <a:ext cx="6838135" cy="2243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453"/>
              </a:lnSpc>
              <a:buFont typeface="Arial" panose="020B0604020202020204" pitchFamily="34" charset="0"/>
              <a:buChar char="•"/>
            </a:pPr>
            <a:r>
              <a:rPr lang="en-US" sz="3180" b="0" i="0" spc="127" dirty="0">
                <a:solidFill>
                  <a:srgbClr val="1C2120"/>
                </a:solidFill>
                <a:latin typeface="Montserrat Light"/>
              </a:rPr>
              <a:t>Using a larger data set for research</a:t>
            </a:r>
          </a:p>
          <a:p>
            <a:pPr marL="457200" indent="-457200">
              <a:lnSpc>
                <a:spcPts val="4453"/>
              </a:lnSpc>
              <a:buFont typeface="Arial" panose="020B0604020202020204" pitchFamily="34" charset="0"/>
              <a:buChar char="•"/>
            </a:pPr>
            <a:r>
              <a:rPr lang="en-US" sz="3180" spc="127" dirty="0">
                <a:solidFill>
                  <a:srgbClr val="1C2120"/>
                </a:solidFill>
                <a:latin typeface="Montserrat Light"/>
              </a:rPr>
              <a:t>Developing African trained speech recognition system</a:t>
            </a:r>
            <a:endParaRPr lang="en-US" sz="3180" b="0" i="0" spc="127" dirty="0">
              <a:solidFill>
                <a:srgbClr val="1C2120"/>
              </a:solidFill>
              <a:latin typeface="Montserrat Light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28700" y="4289160"/>
            <a:ext cx="7124701" cy="1815836"/>
            <a:chOff x="0" y="142875"/>
            <a:chExt cx="9499601" cy="242111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42875"/>
              <a:ext cx="9085673" cy="1869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920"/>
                </a:lnSpc>
              </a:pPr>
              <a:r>
                <a:rPr lang="en-US" sz="10400" spc="311" dirty="0">
                  <a:solidFill>
                    <a:srgbClr val="1C2120"/>
                  </a:solidFill>
                  <a:latin typeface="League Gothic"/>
                </a:rPr>
                <a:t>FUTURE WORKS</a:t>
              </a:r>
              <a:endParaRPr lang="en-US" sz="10400" b="0" i="0" spc="311" dirty="0">
                <a:solidFill>
                  <a:srgbClr val="1C2120"/>
                </a:solidFill>
                <a:latin typeface="League Gothic"/>
              </a:endParaR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2436989"/>
              <a:ext cx="9499601" cy="127001"/>
            </a:xfrm>
            <a:prstGeom prst="rect">
              <a:avLst/>
            </a:prstGeom>
            <a:solidFill>
              <a:srgbClr val="1C2120"/>
            </a:solidFill>
          </p:spPr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0CC0DA4-5915-6F4B-A7EF-0CB08D7AC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46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8349" y="350196"/>
            <a:ext cx="17571303" cy="9586608"/>
            <a:chOff x="0" y="0"/>
            <a:chExt cx="12338234" cy="673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38234" cy="6731534"/>
            </a:xfrm>
            <a:custGeom>
              <a:avLst/>
              <a:gdLst/>
              <a:ahLst/>
              <a:cxnLst/>
              <a:rect l="l" t="t" r="r" b="b"/>
              <a:pathLst>
                <a:path w="12338234" h="6731534">
                  <a:moveTo>
                    <a:pt x="0" y="0"/>
                  </a:moveTo>
                  <a:lnTo>
                    <a:pt x="0" y="6731534"/>
                  </a:lnTo>
                  <a:lnTo>
                    <a:pt x="12338234" y="6731534"/>
                  </a:lnTo>
                  <a:lnTo>
                    <a:pt x="12338234" y="0"/>
                  </a:lnTo>
                  <a:lnTo>
                    <a:pt x="0" y="0"/>
                  </a:lnTo>
                  <a:close/>
                  <a:moveTo>
                    <a:pt x="12277275" y="6670573"/>
                  </a:moveTo>
                  <a:lnTo>
                    <a:pt x="59690" y="6670573"/>
                  </a:lnTo>
                  <a:lnTo>
                    <a:pt x="59690" y="59690"/>
                  </a:lnTo>
                  <a:lnTo>
                    <a:pt x="12277275" y="59690"/>
                  </a:lnTo>
                  <a:lnTo>
                    <a:pt x="12277275" y="6670573"/>
                  </a:lnTo>
                  <a:close/>
                </a:path>
              </a:pathLst>
            </a:custGeom>
            <a:solidFill>
              <a:srgbClr val="1C212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1402556"/>
            <a:ext cx="16230600" cy="7355029"/>
            <a:chOff x="0" y="142875"/>
            <a:chExt cx="21640800" cy="9806706"/>
          </a:xfrm>
        </p:grpSpPr>
        <p:sp>
          <p:nvSpPr>
            <p:cNvPr id="5" name="TextBox 5"/>
            <p:cNvSpPr txBox="1"/>
            <p:nvPr/>
          </p:nvSpPr>
          <p:spPr>
            <a:xfrm>
              <a:off x="0" y="142875"/>
              <a:ext cx="20718873" cy="1869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920"/>
                </a:lnSpc>
              </a:pPr>
              <a:r>
                <a:rPr lang="en-US" sz="10400" spc="311" dirty="0">
                  <a:solidFill>
                    <a:srgbClr val="1C2120"/>
                  </a:solidFill>
                  <a:latin typeface="League Gothic"/>
                </a:rPr>
                <a:t>Thank You.</a:t>
              </a:r>
              <a:endParaRPr lang="en-US" sz="10400" b="0" i="0" spc="311" dirty="0">
                <a:solidFill>
                  <a:srgbClr val="1C2120"/>
                </a:solidFill>
                <a:latin typeface="League Gothic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622255"/>
              <a:ext cx="17670877" cy="592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800" b="0" i="0" spc="112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8" name="AutoShape 8"/>
            <p:cNvSpPr/>
            <p:nvPr/>
          </p:nvSpPr>
          <p:spPr>
            <a:xfrm>
              <a:off x="0" y="2544039"/>
              <a:ext cx="21640800" cy="121024"/>
            </a:xfrm>
            <a:prstGeom prst="rect">
              <a:avLst/>
            </a:prstGeom>
            <a:solidFill>
              <a:srgbClr val="1C212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7017810"/>
              <a:ext cx="17670877" cy="592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800" b="0" i="0" spc="112" dirty="0">
                <a:solidFill>
                  <a:srgbClr val="1C2120"/>
                </a:solidFill>
                <a:latin typeface="Montserrat Light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356598"/>
              <a:ext cx="17670877" cy="592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800" b="0" i="0" spc="112" dirty="0">
                <a:solidFill>
                  <a:srgbClr val="1C2120"/>
                </a:solidFill>
                <a:latin typeface="Montserrat Light"/>
              </a:endParaRPr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73D5B98-B44B-3947-9C81-8BDD0A30B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768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1444</Words>
  <Application>Microsoft Macintosh PowerPoint</Application>
  <PresentationFormat>Custom</PresentationFormat>
  <Paragraphs>201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League Gothic</vt:lpstr>
      <vt:lpstr>Calibri</vt:lpstr>
      <vt:lpstr>Arial</vt:lpstr>
      <vt:lpstr>Montserrat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Zypher Art Talks</dc:title>
  <cp:lastModifiedBy>Ekab-Osowo Tawo</cp:lastModifiedBy>
  <cp:revision>22</cp:revision>
  <dcterms:created xsi:type="dcterms:W3CDTF">2006-08-16T00:00:00Z</dcterms:created>
  <dcterms:modified xsi:type="dcterms:W3CDTF">2019-05-07T03:19:33Z</dcterms:modified>
  <dc:identifier>DADZNRoAXks</dc:identifier>
</cp:coreProperties>
</file>